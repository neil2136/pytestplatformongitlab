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向大家介绍一个我们团队开发的、专为防火墙设备测试设计的Pytest模块化测试框架。这个框架旨在通过自动化技术，显著提升防火墙测试的效率、可靠性和覆盖率，为我们的网络安全产品保驾护航。接下来，我将详细阐述它的设计理念、核心功能和应用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了解一下这个项目的整体情况。我们的框架基于业界流行的Pytest测试框架，采用模块化设计，专门针对防火墙这类复杂网络设备的测试需求。我们的核心目标是打造一个一站式的自动化测试平台，覆盖从底层API到上层UI的所有测试类型。最终，我们希望通过这个框架，实现测试流程的自动化，从而加速产品的迭代速度，并确保交付给客户的产品具备最高的质量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框架的核心特性体现在四个方面。首先是模块化架构，我们将代码和测试用例清晰地分离开，使得项目结构一目了然，非常易于维护和扩展。其次，我们提炼了大量的公共代码，比如基础测试类和工具函数，这大大提高了代码的复用率。第三，我们集成了强大的报告生成功能，无论是Allure还是HTML报告，都能帮助我们快速定位问题。最后，也是最关键的一点，我们实现了从环境准备到测试执行的全自动化流程，极大地解放了测试工程师的生产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项目的目录结构。大家可以看到，结构非常清晰。`src`目录包含了框架的核心代码和与防火墙交互的接口。`tests`目录则分门别类地存放了API、CLI等不同类型的测试用例。`skills`目录是我们的自动化部署系统。`reports`目录用于存放测试报告。此外，我们还提供了一键部署脚本和详细的部署文档，让新成员可以快速上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自动化技能系统是这个框架的一大亮点。它就像一个智能助手，能够自动完成一系列繁琐的准备工作。从检查系统环境、安装依赖，到创建配置文件、部署框架，甚至在部署完成后自动运行验证测试并生成报告。这一切都可以通过一个简单的命令完成，极大地降低了部署和使用的门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框架支持四种主要的测试类型，覆盖了防火墙测试的方方面面。API测试用于验证底层接口的正确性。CLI测试模拟了工程师日常通过命令行操作设备的场景。功能测试则从用户角度出发，验证端到端的业务流程。最后，UI测试确保了Web管理界面的稳定性和易用性。这四种测试类型的结合，构成了一个完整的测试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深入了解一下API测试。API是防火墙与外部系统交互的核心。我们的框架使用Python的requests库来模拟各种API请求，并通过Pytest强大的断言功能来验证返回结果是否符合预期。通过API测试，我们可以快速、精准地验证防火墙的各项基础功能，这是整个自动化测试体系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CLI测试。很多网络工程师习惯于通过SSH命令行来配置和管理设备。我们的框架通过Netmiko等库，完美模拟了这一过程。它可以自动登录设备，执行一系列配置命令，并检查返回结果是否正确。这不仅能发现配置错误，还能确保在大规模部署时，命令的执行是稳定可靠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功能测试是我们测试体系中的重头戏。它不再局限于单个接口或命令，而是模拟真实的用户场景。例如，我们可以模拟一个用户通过VPN接入公司内网，访问特定服务器的全过程。通过编排一系列的API和CLI操作，我们可以验证防火墙的安全策略、NAT转换等核心功能是否正常工作，确保产品在真实环境中的表现符合预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UI测试。防火墙的Web管理界面是用户最直观的体验入口。我们使用Selenium或Playwright等工具，模拟用户在浏览器中的各种操作，比如登录、创建策略、查看日志等。这能帮助我们及时发现前端界面的bug，确保用户操作的流畅性和正确性，提升整体的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测试结果的呈现同样重要。我们的框架支持生成两种主流的测试报告。HTML报告简洁明了，适合快速查看结果。而Allure报告则更为强大，它提供了非常丰富的交互功能，比如测试用例的分层展示、历史执行趋势分析，以及失败用例的详细日志，帮助我们更高效地定位和分析问题。此外，所有报告均可与CI/CD流水线深度集成，实现自动化的报告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将自动化测试融入CI/CD流程是我们的最终目标。我们的框架可以轻松地与Jenkins、GitLab CI等主流工具集成。这意味着，每当有新的代码提交时，整个测试套件都会自动运行。一旦发现问题，系统会立即通知相关人员。这种持续反馈机制，极大地提高了我们发现和修复bug的效率，真正实现了持续集成和持续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大家能快速体验这个框架，我们提供了非常便捷的上手指南。最简单的方式就是运行我们提供的一键部署脚本。如果需要手动部署，也只需要创建虚拟环境并安装依赖即可。运行测试和生成报告的命令也非常简单直观。我们希望通过这些简化的操作，让团队中的每一位成员都能轻松地使用这个强大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这个测试框架能为我们带来巨大的价值。它能显著加速测试过程，提升产品质量，并有效降低测试成本。无论是在日常的研发测试中，还是在版本发布前的大规模回归测试中，亦或是在持续集成的流程中，这个框架都能发挥关键作用，为我们防火墙产品的高质量交付提供坚实的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我的介绍到此结束，感谢大家的聆听。现在是问答环节，欢迎大家提问，我很乐意就这个框架的任何细节与大家进行深入的交流。谢谢！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800" y="2133600"/>
            <a:ext cx="7772400" cy="1473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Pytest模块化防火墙测试框架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371600" y="4064000"/>
            <a:ext cx="6400800" cy="1752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2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赋能高效、可靠的网络设备自动化测试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项目概述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8229600" cy="457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254000" marL="254000">
              <a:lnSpc>
                <a:spcPct val="116666"/>
              </a:lnSpc>
              <a:spcBef>
                <a:spcPct val="100000"/>
              </a:spcBef>
              <a:buClr>
                <a:srgbClr val="1F2329"/>
              </a:buClr>
              <a:buChar char="•"/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设计理念：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基于 Pytest 的模块化测试框架，专为防火墙设备测试场景深度定制，实现测试流程的标准化与自动化，适配网络设备的复杂交互逻辑。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  <a:endParaRPr lang="en-US" sz="1100"/>
          </a:p>
          <a:p>
            <a:pPr algn="l" indent="-254000" marL="254000">
              <a:lnSpc>
                <a:spcPct val="116666"/>
              </a:lnSpc>
              <a:spcBef>
                <a:spcPct val="120000"/>
              </a:spcBef>
              <a:buClr>
                <a:srgbClr val="1F2329"/>
              </a:buClr>
              <a:buChar char="•"/>
            </a:pPr>
            <a:r>
              <a:rPr lang="en-US" b="true" i="false" strike="noStrike" u="none" sz="20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核心目标：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打造统一、高效、可扩展的一站式测试平台，全面支持从底层 API 到上层 UI 的全栈测试能力，助力产品实现快速迭代与高标准质量保障。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</a:p>
          <a:p>
            <a:pPr algn="l" indent="-254000" marL="254000">
              <a:lnSpc>
                <a:spcPct val="116666"/>
              </a:lnSpc>
              <a:spcBef>
                <a:spcPct val="120000"/>
              </a:spcBef>
              <a:buClr>
                <a:srgbClr val="1F2329"/>
              </a:buClr>
              <a:buChar char="•"/>
            </a:pPr>
            <a:r>
              <a:rPr lang="en-US" b="true" i="false" strike="noStrike" u="none" sz="20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价值主张：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通过提升代码复用率、实现自动化部署与 CI/CD 流水线深度集成，显著降低长期测试维护成本，全面提升团队的协作效率与最终软件的交付质量。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508000"/>
            <a:ext cx="82296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核心特性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4191000" cy="2159000"/>
          </a:xfrm>
          <a:prstGeom prst="roundRect">
            <a:avLst>
              <a:gd name="adj" fmla="val 7058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47700" y="1968500"/>
            <a:ext cx="3810000" cy="177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E40AF"/>
                </a:solidFill>
                <a:latin typeface="Songti SC"/>
                <a:ea typeface="Songti SC"/>
                <a:cs typeface="Songti SC"/>
                <a:sym typeface="Songti SC"/>
              </a:rPr>
              <a:t>📦 模块化架构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清晰的项目结构（src/core + tests/{api, cli, functional, ui}），将代码与测试用例分离，逻辑层次分明，极大降低维护成本并易于扩展。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876800" y="1778000"/>
            <a:ext cx="4191000" cy="2159000"/>
          </a:xfrm>
          <a:prstGeom prst="roundRect">
            <a:avLst>
              <a:gd name="adj" fmla="val 7058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67300" y="1968500"/>
            <a:ext cx="3810000" cy="177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59669"/>
                </a:solidFill>
                <a:latin typeface="Songti SC"/>
                <a:ea typeface="Songti SC"/>
                <a:cs typeface="Songti SC"/>
                <a:sym typeface="Songti SC"/>
              </a:rPr>
              <a:t>🔄 统一公共代码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内置BaseTest基类、Helper通用工具库和统一的配置管理模块，消除重复造轮子，最大化代码复用率，让测试开发更专注于业务逻辑。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" y="4191000"/>
            <a:ext cx="4191000" cy="2159000"/>
          </a:xfrm>
          <a:prstGeom prst="roundRect">
            <a:avLst>
              <a:gd name="adj" fmla="val 7058"/>
            </a:avLst>
          </a:prstGeom>
          <a:solidFill>
            <a:srgbClr val="FFFBEB">
              <a:alpha val="100000"/>
            </a:srgbClr>
          </a:solidFill>
          <a:ln w="12700" cmpd="sng" cap="flat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" y="4381500"/>
            <a:ext cx="3810000" cy="177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D97706"/>
                </a:solidFill>
                <a:latin typeface="Songti SC"/>
                <a:ea typeface="Songti SC"/>
                <a:cs typeface="Songti SC"/>
                <a:sym typeface="Songti SC"/>
              </a:rPr>
              <a:t>📊 丰富报告支持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无缝集成Allure与原生HTML报告生成器，支持多维度可视化展示，提供直观、详尽的测试结果与步骤追踪，助力问题快速定位与分析。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76800" y="4191000"/>
            <a:ext cx="4191000" cy="2159000"/>
          </a:xfrm>
          <a:prstGeom prst="roundRect">
            <a:avLst>
              <a:gd name="adj" fmla="val 7058"/>
            </a:avLst>
          </a:prstGeom>
          <a:solidFill>
            <a:srgbClr val="F5F3FF">
              <a:alpha val="100000"/>
            </a:srgbClr>
          </a:solidFill>
          <a:ln w="12700" cmpd="sng" cap="flat">
            <a:solidFill>
              <a:srgbClr val="DDD6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67300" y="4381500"/>
            <a:ext cx="3810000" cy="177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6D28D9"/>
                </a:solidFill>
                <a:latin typeface="Songti SC"/>
                <a:ea typeface="Songti SC"/>
                <a:cs typeface="Songti SC"/>
                <a:sym typeface="Songti SC"/>
              </a:rPr>
              <a:t>⚡ 全自动化流程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内置自动化技能系统，实现从测试环境准备、依赖自动安装、动态配置管理到最终部署的全链路自动化，大幅提升研发与测试效率。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项目结构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8229600" cy="457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279400" marL="279400">
              <a:lnSpc>
                <a:spcPct val="108333"/>
              </a:lnSpc>
              <a:buClr>
                <a:srgbClr val="1E40AF"/>
              </a:buClr>
              <a:buChar char="•"/>
              <a:defRPr/>
            </a:pPr>
            <a:r>
              <a:rPr lang="en-US" b="true" i="false" strike="noStrike" u="none" sz="22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src/：</a:t>
            </a: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框架核心代码与防火墙设备接口实现，是所有测试的基础。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79400" marL="279400">
              <a:lnSpc>
                <a:spcPct val="108333"/>
              </a:lnSpc>
              <a:buClr>
                <a:srgbClr val="1E40AF"/>
              </a:buClr>
              <a:buChar char="•"/>
            </a:pPr>
            <a:r>
              <a:rPr lang="en-US" b="true" i="false" strike="noStrike" u="none" sz="22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tests/：</a:t>
            </a: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存放各类测试用例与模块公共的 helper 函数，按测试类型划分。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79400" marL="279400">
              <a:lnSpc>
                <a:spcPct val="108333"/>
              </a:lnSpc>
              <a:buClr>
                <a:srgbClr val="1E40AF"/>
              </a:buClr>
              <a:buChar char="•"/>
            </a:pPr>
            <a:r>
              <a:rPr lang="en-US" b="true" i="false" strike="noStrike" u="none" sz="22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skills/：</a:t>
            </a: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自动化部署技能系统，负责环境准备、依赖安装等任务。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79400" marL="279400">
              <a:lnSpc>
                <a:spcPct val="108333"/>
              </a:lnSpc>
              <a:buClr>
                <a:srgbClr val="1E40AF"/>
              </a:buClr>
              <a:buChar char="•"/>
            </a:pPr>
            <a:r>
              <a:rPr lang="en-US" b="true" i="false" strike="noStrike" u="none" sz="22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reports/：</a:t>
            </a: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测试结果输出目录，包含 HTML 和 Allure 格式的报告。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79400" marL="279400">
              <a:lnSpc>
                <a:spcPct val="108333"/>
              </a:lnSpc>
              <a:buClr>
                <a:srgbClr val="1E40AF"/>
              </a:buClr>
              <a:buChar char="•"/>
            </a:pPr>
            <a:r>
              <a:rPr lang="en-US" b="true" i="false" strike="noStrike" u="none" sz="22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QUICK_SETUP.sh / DEPLOYMENT_GUIDE.md：</a:t>
            </a: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提供一键式快速部署脚本和详细的部署指南文档，便于新成员快速上手。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381000"/>
            <a:ext cx="82296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自动化技能系统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651000"/>
            <a:ext cx="8229600" cy="952500"/>
          </a:xfrm>
          <a:prstGeom prst="roundRect">
            <a:avLst>
              <a:gd name="adj" fmla="val 10666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" y="18669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03400"/>
            <a:ext cx="6858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Environment Manager:</a:t>
            </a:r>
            <a:r>
              <a:rPr lang="en-US" b="false" i="false" strike="noStrike" u="none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自动检查系统环境，确保满足所有运行要求，消除环境配置不一致风险。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2794000"/>
            <a:ext cx="8229600" cy="952500"/>
          </a:xfrm>
          <a:prstGeom prst="roundRect">
            <a:avLst>
              <a:gd name="adj" fmla="val 10666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11200" y="30099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946400"/>
            <a:ext cx="6858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Dependency Installer:</a:t>
            </a:r>
            <a:r>
              <a:rPr lang="en-US" b="false" i="false" strike="noStrike" u="none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自动安装项目所需的Python包和第三方依赖，解决版本兼容与缺失问题。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" y="3937000"/>
            <a:ext cx="8229600" cy="952500"/>
          </a:xfrm>
          <a:prstGeom prst="roundRect">
            <a:avLst>
              <a:gd name="adj" fmla="val 10666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1200" y="41529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4089400"/>
            <a:ext cx="6858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Configuration Manager:</a:t>
            </a:r>
            <a:r>
              <a:rPr lang="en-US" b="false" i="false" strike="noStrike" u="none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自动创建标准配置文件和项目目录结构，支持开发、测试等多环境快速切换。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" y="5080000"/>
            <a:ext cx="3987800" cy="1397000"/>
          </a:xfrm>
          <a:prstGeom prst="roundRect">
            <a:avLst>
              <a:gd name="adj" fmla="val 7272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5397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5270500"/>
            <a:ext cx="2794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Test Framework Deployer</a:t>
            </a:r>
            <a:r>
              <a:rPr lang="en-US" b="false" i="false" strike="noStrike" u="none" sz="16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一键部署整个测试框架到目标机器，简化部署流程，降低操作门槛。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5080000"/>
            <a:ext cx="3987800" cy="1397000"/>
          </a:xfrm>
          <a:prstGeom prst="roundRect">
            <a:avLst>
              <a:gd name="adj" fmla="val 7272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876800" y="5397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511800" y="5270500"/>
            <a:ext cx="2921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Validation &amp; Report Generator</a:t>
            </a:r>
            <a:r>
              <a:rPr lang="en-US" b="false" i="false" strike="noStrike" u="none" sz="16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自动执行验证性测试并生成可视化报告，确保框架部署与初始化成功。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508000"/>
            <a:ext cx="82296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支持的测试类型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4114800" cy="2159000"/>
          </a:xfrm>
          <a:prstGeom prst="roundRect">
            <a:avLst>
              <a:gd name="adj" fmla="val 7058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" y="2032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2032000"/>
            <a:ext cx="29210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API 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验证防火墙的 RESTful API 接口功能与性能，确保接口响应正确、稳定且符合规范。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00600" y="1778000"/>
            <a:ext cx="4114800" cy="2159000"/>
          </a:xfrm>
          <a:prstGeom prst="roundRect">
            <a:avLst>
              <a:gd name="adj" fmla="val 7058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54600" y="2032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740400" y="2032000"/>
            <a:ext cx="29210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CLI 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SSH 连接设备，自动化执行各类命令行配置操作，并验证系统状态与配置结果的一致性。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" y="4191000"/>
            <a:ext cx="4114800" cy="2159000"/>
          </a:xfrm>
          <a:prstGeom prst="roundRect">
            <a:avLst>
              <a:gd name="adj" fmla="val 7058"/>
            </a:avLst>
          </a:prstGeom>
          <a:solidFill>
            <a:srgbClr val="FFFBEB">
              <a:alpha val="100000"/>
            </a:srgbClr>
          </a:solidFill>
          <a:ln w="12700" cmpd="sng" cap="flat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1200" y="4445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4445000"/>
            <a:ext cx="29210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功能测试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模拟多种真实的业务流量场景，进行端到端的功能与安全策略验证，确保业务逻辑准确无误。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00600" y="4191000"/>
            <a:ext cx="4114800" cy="2159000"/>
          </a:xfrm>
          <a:prstGeom prst="roundRect">
            <a:avLst>
              <a:gd name="adj" fmla="val 7058"/>
            </a:avLst>
          </a:prstGeom>
          <a:solidFill>
            <a:srgbClr val="FFF1F2">
              <a:alpha val="100000"/>
            </a:srgbClr>
          </a:solidFill>
          <a:ln w="12700" cmpd="sng" cap="flat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054600" y="4445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740400" y="4445000"/>
            <a:ext cx="29210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881337"/>
                </a:solidFill>
                <a:latin typeface="Calibri"/>
                <a:ea typeface="Calibri"/>
                <a:cs typeface="Calibri"/>
                <a:sym typeface="Calibri"/>
              </a:rPr>
              <a:t>UI 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自动化模拟用户操作 Web 管理界面，检查页面交互逻辑、元素展示及功能入口的有效性。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API测试详解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032000"/>
            <a:ext cx="8229600" cy="431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304800" marL="304800">
              <a:lnSpc>
                <a:spcPct val="116666"/>
              </a:lnSpc>
              <a:spcBef>
                <a:spcPct val="60000"/>
              </a:spcBef>
              <a:buClr>
                <a:srgbClr val="1F2329"/>
              </a:buClr>
              <a:buChar char="•"/>
              <a:defRPr/>
            </a:pPr>
            <a:r>
              <a:rPr lang="en-US" b="true" i="false" strike="noStrike" u="none" sz="24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测试目标：</a:t>
            </a:r>
            <a:r>
              <a:rPr lang="en-US" b="false" i="false" strike="noStrike" u="none" sz="22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验证防火墙提供的 RESTful API 接口的请求与响应数据格式、状态码及业务逻辑是否符合接口规范定义。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304800" marL="304800">
              <a:lnSpc>
                <a:spcPct val="116666"/>
              </a:lnSpc>
              <a:spcBef>
                <a:spcPct val="60000"/>
              </a:spcBef>
              <a:buClr>
                <a:srgbClr val="1F2329"/>
              </a:buClr>
              <a:buChar char="•"/>
            </a:pPr>
            <a:r>
              <a:rPr lang="en-US" b="true" i="false" strike="noStrike" u="none" sz="24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技术实现：</a:t>
            </a:r>
            <a:r>
              <a:rPr lang="en-US" b="false" i="false" strike="noStrike" u="none" sz="22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基于 Python 生态，使用</a:t>
            </a:r>
            <a:r>
              <a:rPr lang="en-US" b="true" i="false" strike="noStrike" u="none" sz="2200">
                <a:solidFill>
                  <a:srgbClr val="D93025"/>
                </a:solidFill>
                <a:latin typeface="Calibri"/>
                <a:ea typeface="Calibri"/>
                <a:cs typeface="Calibri"/>
                <a:sym typeface="Calibri"/>
              </a:rPr>
              <a:t>requests</a:t>
            </a:r>
            <a:r>
              <a:rPr lang="en-US" b="false" i="false" strike="noStrike" u="none" sz="22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库构造并发送各类 HTTP/HTTPS 请求，结合</a:t>
            </a:r>
            <a:r>
              <a:rPr lang="en-US" b="true" i="false" strike="noStrike" u="none" sz="2200">
                <a:solidFill>
                  <a:srgbClr val="D93025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r>
              <a:rPr lang="en-US" b="false" i="false" strike="noStrike" u="none" sz="22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测试框架的断言机制对接口返回值进行高效、标准化的校验。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04800" marL="304800">
              <a:lnSpc>
                <a:spcPct val="116666"/>
              </a:lnSpc>
              <a:spcBef>
                <a:spcPct val="60000"/>
              </a:spcBef>
              <a:buClr>
                <a:srgbClr val="1F2329"/>
              </a:buClr>
              <a:buChar char="•"/>
            </a:pPr>
            <a:r>
              <a:rPr lang="en-US" b="true" i="false" strike="noStrike" u="none" sz="24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核心价值：</a:t>
            </a:r>
            <a:r>
              <a:rPr lang="en-US" b="false" i="false" strike="noStrike" u="none" sz="22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能够绕过 UI 层直接对防火墙底层核心功能进行快速、精准的功能验证，是构建全链路自动化测试体系的重要基石，同时可显著缩短测试周期。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CLI测试详解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2743200" cy="4318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97000" y="2095500"/>
            <a:ext cx="863600" cy="863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47700" y="3175000"/>
            <a:ext cx="2362200" cy="241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自动化执行防火墙的命令行界面（CLI）操作，验证配置下发和状态查询的准确性。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200400" y="1778000"/>
            <a:ext cx="2743200" cy="4318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140200" y="2095500"/>
            <a:ext cx="863600" cy="863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390900" y="3175000"/>
            <a:ext cx="2362200" cy="241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Netmiko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Paramiko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库建立SSH连接，自动发送命令并解析返回结果，实现端到端的交互流程。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43600" y="1778000"/>
            <a:ext cx="2743200" cy="4318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883400" y="2095500"/>
            <a:ext cx="863600" cy="863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134100" y="3175000"/>
            <a:ext cx="2362200" cy="241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精准模拟人工运维场景，在大规模设备部署前发现潜在风险，确保命令行配置的逻辑正确性与系统运行稳定性。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508000"/>
            <a:ext cx="82296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功能测试详解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0"/>
            <a:ext cx="2667000" cy="4064000"/>
          </a:xfrm>
          <a:prstGeom prst="roundRect">
            <a:avLst>
              <a:gd name="adj" fmla="val 5714"/>
            </a:avLst>
          </a:prstGeom>
          <a:solidFill>
            <a:srgbClr val="F0F9FF">
              <a:alpha val="100000"/>
            </a:srgbClr>
          </a:solidFill>
          <a:ln w="12700" cmpd="sng" cap="flat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60500" y="2222500"/>
            <a:ext cx="762000" cy="762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35000" y="3175000"/>
            <a:ext cx="2413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4064000"/>
            <a:ext cx="22860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模拟真实用户场景，全面验证防火墙的安全策略下发、NAT地址转换、VPN远程连接等核心业务功能的正确性与完备性。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238500" y="1905000"/>
            <a:ext cx="2667000" cy="4064000"/>
          </a:xfrm>
          <a:prstGeom prst="roundRect">
            <a:avLst>
              <a:gd name="adj" fmla="val 5714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191000" y="22225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365500" y="3175000"/>
            <a:ext cx="2413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29000" y="4064000"/>
            <a:ext cx="22860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深度结合API接口与CLI命令行工具，自动化编排复杂的端到端测试流程，实现从配置下发到流量验证的全链路覆盖。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69000" y="1905000"/>
            <a:ext cx="2667000" cy="4064000"/>
          </a:xfrm>
          <a:prstGeom prst="roundRect">
            <a:avLst>
              <a:gd name="adj" fmla="val 5714"/>
            </a:avLst>
          </a:prstGeom>
          <a:solidFill>
            <a:srgbClr val="FFFBEB">
              <a:alpha val="100000"/>
            </a:srgbClr>
          </a:solidFill>
          <a:ln w="12700" cmpd="sng" cap="flat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21500" y="22225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096000" y="3175000"/>
            <a:ext cx="2413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59500" y="4064000"/>
            <a:ext cx="22860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提前发现潜在逻辑漏洞，确保防火墙在高并发、复杂组网的真实业务环境下，保持功能完整性和策略执行的有效性。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UI测试详解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8229600" cy="457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304800" marL="304800">
              <a:lnSpc>
                <a:spcPct val="125000"/>
              </a:lnSpc>
              <a:spcBef>
                <a:spcPct val="40000"/>
              </a:spcBef>
              <a:buClr>
                <a:srgbClr val="111827"/>
              </a:buClr>
              <a:buChar char="•"/>
              <a:defRPr/>
            </a:pPr>
            <a:r>
              <a:rPr lang="en-US" b="true" i="false" strike="noStrike" u="none" sz="2400">
                <a:solidFill>
                  <a:srgbClr val="111827"/>
                </a:solidFill>
                <a:latin typeface="Songti SC"/>
                <a:ea typeface="Songti SC"/>
                <a:cs typeface="Songti SC"/>
                <a:sym typeface="Songti SC"/>
              </a:rPr>
              <a:t>测试目标：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自动化操作防火墙的Web管理界面，验证页面元素、交互逻辑和响应速度，确保界面展示与功能的一致性。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304800" marL="304800">
              <a:lnSpc>
                <a:spcPct val="125000"/>
              </a:lnSpc>
              <a:spcBef>
                <a:spcPct val="80000"/>
              </a:spcBef>
              <a:buClr>
                <a:srgbClr val="111827"/>
              </a:buClr>
              <a:buChar char="•"/>
            </a:pPr>
            <a:r>
              <a:rPr lang="en-US" b="true" i="false" strike="noStrike" u="none" sz="2400">
                <a:solidFill>
                  <a:srgbClr val="111827"/>
                </a:solidFill>
                <a:latin typeface="Songti SC"/>
                <a:ea typeface="Songti SC"/>
                <a:cs typeface="Songti SC"/>
                <a:sym typeface="Songti SC"/>
              </a:rPr>
              <a:t>技术实现：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采用</a:t>
            </a:r>
            <a:r>
              <a:rPr lang="en-US" b="true" i="false" strike="noStrike" u="none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Selenium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或</a:t>
            </a:r>
            <a:r>
              <a:rPr lang="en-US" b="true" i="false" strike="noStrike" u="none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Playwright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等主流自动化测试工具驱动浏览器，精准模拟用户的点击、输入、切换等交互行为，覆盖核心业务流程。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04800" marL="304800">
              <a:lnSpc>
                <a:spcPct val="125000"/>
              </a:lnSpc>
              <a:spcBef>
                <a:spcPct val="80000"/>
              </a:spcBef>
              <a:buClr>
                <a:srgbClr val="111827"/>
              </a:buClr>
              <a:buChar char="•"/>
            </a:pPr>
            <a:r>
              <a:rPr lang="en-US" b="true" i="false" strike="noStrike" u="none" sz="2400">
                <a:solidFill>
                  <a:srgbClr val="111827"/>
                </a:solidFill>
                <a:latin typeface="Songti SC"/>
                <a:ea typeface="Songti SC"/>
                <a:cs typeface="Songti SC"/>
                <a:sym typeface="Songti SC"/>
              </a:rPr>
              <a:t>核心价值：</a:t>
            </a:r>
            <a:r>
              <a:rPr lang="en-US" b="false" i="false" strike="noStrike" u="none" sz="1800">
                <a:solidFill>
                  <a:srgbClr val="374151"/>
                </a:solidFill>
                <a:latin typeface="Songti SC"/>
                <a:ea typeface="Songti SC"/>
                <a:cs typeface="Songti SC"/>
                <a:sym typeface="Songti SC"/>
              </a:rPr>
              <a:t>从用户视角出发，保障Web管理界面的操作流畅度与体验一致性；及时捕捉前端代码迭代中的回归问题，确保产品功能的稳定性与可靠性。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111827"/>
                </a:solidFill>
                <a:latin typeface="Songti SC"/>
                <a:ea typeface="Songti SC"/>
                <a:cs typeface="Songti SC"/>
                <a:sym typeface="Songti SC"/>
              </a:rPr>
              <a:t>测试报告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905000"/>
            <a:ext cx="8229600" cy="444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279400" marL="279400">
              <a:lnSpc>
                <a:spcPct val="108333"/>
              </a:lnSpc>
              <a:spcBef>
                <a:spcPts val="2000"/>
              </a:spcBef>
              <a:buClr>
                <a:srgbClr val="2563EB"/>
              </a:buClr>
              <a:buChar char="•"/>
              <a:defRPr/>
            </a:pPr>
            <a:r>
              <a:rPr lang="en-US" b="true" i="false" strike="noStrike" u="none" sz="2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HTML 报告：</a:t>
            </a:r>
            <a:r>
              <a:rPr lang="en-US" b="false" i="false" strike="noStrike" u="none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生成简洁直观的 HTML 格式报告，结构清晰，无需额外工具，便于团队成员快速查看测试结果的整体概览。</a:t>
            </a:r>
            <a:r>
              <a:rPr lang="en-US" b="false" i="false" strike="noStrike" u="none" sz="16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-279400" marL="279400">
              <a:lnSpc>
                <a:spcPct val="108333"/>
              </a:lnSpc>
              <a:spcBef>
                <a:spcPts val="3000"/>
              </a:spcBef>
              <a:buClr>
                <a:srgbClr val="2563EB"/>
              </a:buClr>
              <a:buChar char="•"/>
            </a:pPr>
            <a:r>
              <a:rPr lang="en-US" b="true" i="false" strike="noStrike" u="none" sz="2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Allure 报告：</a:t>
            </a:r>
            <a:r>
              <a:rPr lang="en-US" b="false" i="false" strike="noStrike" u="none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生成精美且交互性强的可视化报告，支持测试用例分层展示、执行历史趋势分析，并可查看失败用例的详细日志，极大提升问题定位与分析效率。</a:t>
            </a:r>
            <a:r>
              <a:rPr lang="en-US" b="false" i="false" strike="noStrike" u="none" sz="16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79400" marL="279400">
              <a:lnSpc>
                <a:spcPct val="108333"/>
              </a:lnSpc>
              <a:spcBef>
                <a:spcPts val="3000"/>
              </a:spcBef>
              <a:buClr>
                <a:srgbClr val="2563EB"/>
              </a:buClr>
              <a:buChar char="•"/>
            </a:pPr>
            <a:r>
              <a:rPr lang="en-US" b="true" i="false" strike="noStrike" u="none" sz="2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CI/CD 集成：</a:t>
            </a:r>
            <a:r>
              <a:rPr lang="en-US" b="false" i="false" strike="noStrike" u="none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测试报告可无缝融入持续集成与持续部署（CI/CD）流水线中，实现自动化生成、归档与在线展示，助力开发流程的高效闭环。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508000"/>
            <a:ext cx="82296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>CI/CD 集成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905000"/>
            <a:ext cx="2667000" cy="4191000"/>
          </a:xfrm>
          <a:prstGeom prst="roundRect">
            <a:avLst>
              <a:gd name="adj" fmla="val 4761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84200" y="2159000"/>
            <a:ext cx="2413000" cy="368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无缝集成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  <a:spcBef>
                <a:spcPts val="15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支持与 GitHub Actions、Jenkins、GitLab CI 等主流 CI/CD 平台无缝集成，无需复杂配置，快速接入现有开发流程。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238500" y="1905000"/>
            <a:ext cx="2667000" cy="4191000"/>
          </a:xfrm>
          <a:prstGeom prst="roundRect">
            <a:avLst>
              <a:gd name="adj" fmla="val 4761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65500" y="2159000"/>
            <a:ext cx="2413000" cy="368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自动化流水线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  <a:spcBef>
                <a:spcPts val="15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打通从代码提交、自动构建、自动化测试到生成结果报告的完整链路，实现测试流程全自动化，大幅减少人工干预成本。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19800" y="1905000"/>
            <a:ext cx="2667000" cy="4191000"/>
          </a:xfrm>
          <a:prstGeom prst="roundRect">
            <a:avLst>
              <a:gd name="adj" fmla="val 4761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146800" y="2159000"/>
            <a:ext cx="2413000" cy="368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持续反馈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  <a:spcBef>
                <a:spcPts val="15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每次代码提交均自动触发回归测试，即时发现并反馈代码质量问题，缩短问题修复周期，有效保障持续交付效率。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快速上手指南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8229600" cy="457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304800" marL="304800">
              <a:lnSpc>
                <a:spcPct val="116666"/>
              </a:lnSpc>
              <a:buClr>
                <a:srgbClr val="1F2937"/>
              </a:buClr>
              <a:buChar char="•"/>
              <a:defRPr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快速部署：</a:t>
            </a:r>
            <a:r>
              <a:rPr lang="en-US" b="false" i="false" strike="noStrike" u="none" sz="2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执行 ./QUICK_SETUP.sh 脚本，一键完成环境准备和框架部署。</a:t>
            </a: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304800" marL="304800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手动部署：</a:t>
            </a:r>
            <a:r>
              <a:rPr lang="en-US" b="false" i="false" strike="noStrike" u="none" sz="2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创建 Python 虚拟环境，并安装 requirements.txt 中指定的依赖包。</a:t>
            </a: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04800" marL="304800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运行测试：</a:t>
            </a:r>
            <a:r>
              <a:rPr lang="en-US" b="false" i="false" strike="noStrike" u="none" sz="2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在项目根目录执行 pytest tests/ -v 即可运行所有测试用例。</a:t>
            </a: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04800" marL="304800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生成报告：</a:t>
            </a:r>
            <a:r>
              <a:rPr lang="en-US" b="false" i="false" strike="noStrike" u="none" sz="2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使用 pytest --html=reports/html/report.html 命令生成 HTML 报告。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" y="279400"/>
            <a:ext cx="82296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项目价值与适用场景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778000"/>
            <a:ext cx="8229600" cy="457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304800" marL="304800">
              <a:lnSpc>
                <a:spcPct val="108333"/>
              </a:lnSpc>
              <a:spcBef>
                <a:spcPct val="40000"/>
              </a:spcBef>
              <a:buClr>
                <a:srgbClr val="1F2937"/>
              </a:buClr>
              <a:buChar char="•"/>
              <a:defRPr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加速测试：</a:t>
            </a:r>
            <a:r>
              <a:rPr lang="en-US" b="false" i="false" strike="noStrike" u="none" sz="2200">
                <a:solidFill>
                  <a:srgbClr val="4B5563"/>
                </a:solidFill>
                <a:latin typeface="Songti SC"/>
                <a:ea typeface="Songti SC"/>
                <a:cs typeface="Songti SC"/>
                <a:sym typeface="Songti SC"/>
              </a:rPr>
              <a:t>显著提升防火墙产品的自动化测试覆盖率和执行效率，大幅缩短测试周期。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  <a:endParaRPr lang="en-US" sz="1100"/>
          </a:p>
          <a:p>
            <a:pPr algn="l" indent="-304800" marL="304800">
              <a:lnSpc>
                <a:spcPct val="108333"/>
              </a:lnSpc>
              <a:spcBef>
                <a:spcPct val="40000"/>
              </a:spcBef>
              <a:buClr>
                <a:srgbClr val="1F2937"/>
              </a:buClr>
              <a:buChar char="•"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提升质量：</a:t>
            </a:r>
            <a:r>
              <a:rPr lang="en-US" b="false" i="false" strike="noStrike" u="none" sz="2200">
                <a:solidFill>
                  <a:srgbClr val="4B5563"/>
                </a:solidFill>
                <a:latin typeface="Songti SC"/>
                <a:ea typeface="Songti SC"/>
                <a:cs typeface="Songti SC"/>
                <a:sym typeface="Songti SC"/>
              </a:rPr>
              <a:t>通过持续、自动化的回归测试，有效防止代码退化，显著提升防火墙软件的整体稳定性。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</a:p>
          <a:p>
            <a:pPr algn="l" indent="-304800" marL="304800">
              <a:lnSpc>
                <a:spcPct val="108333"/>
              </a:lnSpc>
              <a:spcBef>
                <a:spcPct val="40000"/>
              </a:spcBef>
              <a:buClr>
                <a:srgbClr val="1F2937"/>
              </a:buClr>
              <a:buChar char="•"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降低成本：</a:t>
            </a:r>
            <a:r>
              <a:rPr lang="en-US" b="false" i="false" strike="noStrike" u="none" sz="2200">
                <a:solidFill>
                  <a:srgbClr val="4B5563"/>
                </a:solidFill>
                <a:latin typeface="Songti SC"/>
                <a:ea typeface="Songti SC"/>
                <a:cs typeface="Songti SC"/>
                <a:sym typeface="Songti SC"/>
              </a:rPr>
              <a:t>大幅减少重复性的人工测试工作，释放人力资源，让工程师能专注于更具价值的测试设计与深度问题分析。</a:t>
            </a:r>
            <a:r>
              <a:rPr lang="en-US" b="false" i="false" strike="noStrike" u="none" sz="1600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/>
            </a:r>
          </a:p>
          <a:p>
            <a:pPr algn="l" indent="-304800" marL="304800">
              <a:lnSpc>
                <a:spcPct val="108333"/>
              </a:lnSpc>
              <a:spcBef>
                <a:spcPct val="40000"/>
              </a:spcBef>
              <a:buClr>
                <a:srgbClr val="1F2937"/>
              </a:buClr>
              <a:buChar char="•"/>
            </a:pPr>
            <a:r>
              <a:rPr lang="en-US" b="true" i="false" strike="noStrike" u="none" sz="2400">
                <a:solidFill>
                  <a:srgbClr val="1F2937"/>
                </a:solidFill>
                <a:latin typeface="Songti SC"/>
                <a:ea typeface="Songti SC"/>
                <a:cs typeface="Songti SC"/>
                <a:sym typeface="Songti SC"/>
              </a:rPr>
              <a:t>适用场景：</a:t>
            </a:r>
            <a:r>
              <a:rPr lang="en-US" b="false" i="false" strike="noStrike" u="none" sz="2200">
                <a:solidFill>
                  <a:srgbClr val="4B5563"/>
                </a:solidFill>
                <a:latin typeface="Songti SC"/>
                <a:ea typeface="Songti SC"/>
                <a:cs typeface="Songti SC"/>
                <a:sym typeface="Songti SC"/>
              </a:rPr>
              <a:t>全面覆盖防火墙产品的研发测试、版本发布前的大规模回归、持续集成流水线及质量保障体系的各个关键阶段。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800" y="2133600"/>
            <a:ext cx="7772400" cy="1473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371600" y="4064000"/>
            <a:ext cx="6400800" cy="1524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595959"/>
                </a:solidFill>
                <a:latin typeface="Songti SC"/>
                <a:ea typeface="Songti SC"/>
                <a:cs typeface="Songti SC"/>
                <a:sym typeface="Songti SC"/>
              </a:rPr>
              <a:t>感谢聆听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357084"/>
            <a:ext cx="1143000" cy="500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