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96" y="2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们团队设计的基于pytest的防火墙自动化测试框架。本次汇报将详细介绍该框架的完整实施方案，包括项目背景、技术架构、核心功能以及未来的规划。希望通过这次分享，能让大家对我们的工作有一个全面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九个部分。首先，我会介绍项目的背景和我们设定的目标。接着，会详细阐述技术选型和系统架构。然后，我们会深入了解框架支持的四种测试类型，以及如何与CI/CD流水线集成。之后，会展示Allure报告系统的强大功能，并提供快速上手的部署指南和测试执行方法。最后，我们会讨论故障排除、安全注意事项，并对项目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为什么要做这个自动化测试框架。在传统的手动测试中，我们面临着效率低、覆盖率不足、报告不直观、部署复杂以及缺乏历史数据追溯等一系列痛点。为了解决这些问题，我们设计了这套框架，它不仅能实现7x24小时自动化运行，覆盖API、CLI、功能和UI四大测试类型，还提供了直观的Allure报告和Docker一键部署能力，并通过PostgreSQL存储历史数据。项目的核心价值在于其完全本地化、开箱即用、四测合一以及与CI/CD的无缝集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项目设定了七个明确的设计目标，涵盖了本地化部署、技术栈现代化、测试类型覆盖、防火墙专用优化、拓扑支持、报告可视化和CI/CD集成。从表格中可以看到，所有目标均已成功实现，并达到了预期的验收标准。例如，我们实现了完全的本地化部署，采用了最新的pytest和GitLab CI技术栈，并成功覆盖了四大测试类型，整个项目的实施状态非常理想。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选型遵循现代化、高效和稳定的原则。核心测试引擎采用pytest，它提供了极大的灵活性和丰富的插件生态。针对不同的测试需求，我们选用了requests和pydantic进行API测试，paramiko和netmiko进行CLI测试。报告方面，我们集成了强大的Allure Report。整个流程由GitLab CI/CD驱动，利用Docker进行环境隔离，并通过PostgreSQL持久化存储历史数据。这些技术的组合构成了我们框架坚实的基础。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这是我们自动化测试框架的系统架构全景图。整个流程从触发层开始，无论是代码推送、合并请求还是定时任务，都会触发CI平台层的GitLab CI流水线。流水线接着调用测试执行层，通过pytest执行各种类型的测试。测试结果会进入结果处理层，生成Allure、JUnit等多种格式的报告。最终，结果通过可视化层展示给用户，并将历史数据存入PostgreSQL数据库，以便进行趋势分析和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一下框架的核心组件关系。整个框架以pytest为核心引擎，并集成了allure、cov、xdist等多个插件来增强功能。防火墙连接层封装了paramiko、netmiko和requests等库，统一了对防火墙的API和CLI访问。测试数据层通过fixtures、conftest.py和专门的配置目录来管理测试数据和拓扑。最后，报告系统结合了Allure的可视化能力、PostgreSQL的历史数据存储和Flask的Web服务，提供了完整的报告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框架实现了四大测试类型的全覆盖。包括使用requests库的API测试，使用paramiko和netmiko的CLI测试，验证端到端业务逻辑的功能测试，以及使用Playwright的UI测试。每种测试类型都有独立的目录结构，便于管理和维护。在执行时，用户可以通过简单的pytest命令来运行所有测试，或者指定特定的测试模块，非常灵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一个包含七个阶段的CI/CD流水线，实现了从环境准备到测试执行再到结果通知的全自动化流程。流水线始于setup阶段，验证SSH连接；接着是topology阶段，使用Docker准备测试环境；然后deploy阶段部署代码；test阶段执行测试；report阶段收集并生成报告；sendmail阶段发送通知；最后cleanup阶段清理环境。整个流程环环相扣，确保了测试的自动化和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这是我们GitLab CI配置文件的核心示例。我们首先定义了七个阶段，并设置了远程主机、用户和pytest参数等全局变量。在test阶段，我们通过SSH连接到远程服务器，激活虚拟环境，并执行pytest命令。这个配置文件清晰地展示了如何将我们的测试流程与GitLab CI无缝集成，实现自动化测试的触发和执行。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我们的报告系统基于Allure Docker Service构建。GitLab CI流水线收集的测试结果会被存储在指定的数据目录中，Allure服务会实时读取这些数据并生成可视化报告。用户可以通过Web UI、HTML文件或覆盖率报告等多种方式访问测试结果。这里也提供了启动Allure服务和UI的Docker命令，部署非常简单。右下角是一个Allure报告的实际界面截图，可以看到其丰富的统计信息和直观的展示。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目录结构。所有源代码都放在src目录下，分为核心框架和防火墙专用模块。tests目录按照测试类型分为api、cli、functional和ui四个子目录。此外，还有专门的目录用于存放拓扑配置、报告输出、Docker配置和辅助脚本。这种清晰的结构有助于项目的维护和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为了让用户能够快速上手，我们提供了详细的快速开始指南。首先，环境要求非常明确，推荐使用Ubuntu 24.04和Python 3.10以上版本，4G内存起步。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在操作流程上，我们设计了两个核心步骤：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一键部署：用户只需简单的两条命令，克隆代码库并执行脚本，即可自动完成依赖安装和服务启动，极大降低了部署门槛。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环境配置：所有敏感信息和网络参数都通过标准的.env文件进行集中管理，将配置与代码逻辑分离，既保证了安全性，又便于用户根据自己的环境灵活调整防火墙IP、端口等关键参数。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在测试执行方面，我们提供了灵活的命令选项。用户可以根据需要生成HTML、Allure、JUnit或覆盖率报告。例如，使用--html参数可以生成独立的HTML报告，使用--alluredir和allure serve命令可以实时查看Allure报告。此外，我们还提供了远程执行的示例命令，通过SSH可以轻松地在远程服务器上触发测试并生成报告。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在使用过程中可能遇到一些问题，我们总结了常见的故障及其解决方案，例如SSH连接失败、Playwright未安装等。同时，我们也提供了一些实用的调试技巧，比如使用-v -s参数查看详细输出，使用--lf参数只重新运行失败的测试，以及使用-xdist插件进行并行执行来提高效率。这些技巧可以帮助用户快速定位和解决问题。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安全是自动化测试框架中至关重要的一环。我们采取了多项措施来保障系统安全，包括使用GitLab CI/CD变量来保护密码等敏感信息，严格控制网络访问权限，限制Runner服务器的权限，并在日志中屏蔽敏感数据。同时，我们也强调定期更新所有组件和依赖的重要性，以防范潜在的安全风险。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基础功能，我们的框架还支持多种高级配置。例如，通过安装pytest-xdist插件，可以轻松实现测试用例的并行执行，大幅缩短测试时间。我们还提供了定时清理报告的脚本，避免存储资源被耗尽。此外，通过自定义GitLab CI的workflow规则，可以灵活控制流水线的触发条件，如定时执行、代码推送或合并请求等。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这是我们项目的协同工作流。开发者在GitLab仓库提交代码后，会自动触发GitLab CI/CD流水线。流水线负责将代码自动部署到远程测试服务器，并执行测试框架。测试完成后，生成的报告会被自动收集，并最终通过Allure可视化报告界面展示出来。整个过程实现了开发、测试、报告的自动化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项目实现了六大亮点：完全本地化部署、四大测试类型全覆盖、7阶段CI/CD流水线、Allure可视化报告、Docker容器化以及PostgreSQL历史数据存储。这些特性共同构成了项目的核心技术价值，包括显著提升测试效率、保障软件质量、实现持续集成以及提供完整的测试历史可追溯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计划在几个方面进行深入优化。首先是性能优化，引入分布式执行以进一步缩短测试时间。其次是探索智能测试，利用AI辅助生成测试用例。我们还将扩展框架对更多防火墙型号的支持，并探索移动端UI测试。长远来看，我们希望引入机器学习技术，实现智能缺陷预测与分析。最后，再次感谢各位的支持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最后，这是本次汇报涉及到的所有资源链接，包括项目仓库、CI项目、Allure报告的访问地址以及详细的实施文档。大家可以通过这些链接获取更多信息或访问相关服务。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15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15.sv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21.svg"/><Relationship Id="rId4" Type="http://schemas.openxmlformats.org/officeDocument/2006/relationships/image" Target="../media/image3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Relationship Id="rId9" Type="http://schemas.openxmlformats.org/officeDocument/2006/relationships/image" Target="../media/image3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5" Type="http://schemas.openxmlformats.org/officeDocument/2006/relationships/image" Target="../media/image34.svg"/><Relationship Id="rId4" Type="http://schemas.openxmlformats.org/officeDocument/2006/relationships/image" Target="../media/image3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2.jpe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14.svg"/><Relationship Id="rId4" Type="http://schemas.openxmlformats.org/officeDocument/2006/relationships/image" Target="../media/image1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40.svg"/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12" Type="http://schemas.openxmlformats.org/officeDocument/2006/relationships/image" Target="../media/image4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36.svg"/><Relationship Id="rId5" Type="http://schemas.openxmlformats.org/officeDocument/2006/relationships/image" Target="../media/image45.svg"/><Relationship Id="rId10" Type="http://schemas.openxmlformats.org/officeDocument/2006/relationships/image" Target="../media/image48.svg"/><Relationship Id="rId4" Type="http://schemas.openxmlformats.org/officeDocument/2006/relationships/image" Target="../media/image33.svg"/><Relationship Id="rId9" Type="http://schemas.openxmlformats.org/officeDocument/2006/relationships/image" Target="../media/image4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14.svg"/><Relationship Id="rId4" Type="http://schemas.openxmlformats.org/officeDocument/2006/relationships/image" Target="../media/image5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5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5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pytest</a:t>
            </a:r>
            <a:r>
              <a:rPr lang="en-US" sz="5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5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的防火墙自动化测试框架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270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3683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0" i="0" u="none" strike="noStrike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完整实施方案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3048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527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 / PRESENTER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[您的姓名]</a:t>
            </a:r>
          </a:p>
        </p:txBody>
      </p:sp>
      <p:sp>
        <p:nvSpPr>
          <p:cNvPr id="8" name="AutoShape 8"/>
          <p:cNvSpPr/>
          <p:nvPr/>
        </p:nvSpPr>
        <p:spPr>
          <a:xfrm>
            <a:off x="4572000" y="5080000"/>
            <a:ext cx="3048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826000" y="527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日 期 / DATE</a:t>
            </a:r>
            <a:endParaRPr lang="en-US" sz="1100" dirty="0"/>
          </a:p>
          <a:p>
            <a:pPr marL="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2026年05月25日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5080000"/>
            <a:ext cx="3048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82000" y="527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版 本 / VERSION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032000" y="63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095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2032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2095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24500" y="2032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技术选型与架构设计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18500" y="2095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207500" y="2032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测试类型详解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4925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3810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41500" y="3746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CI/CD 流水线集成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45000" y="34925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635500" y="3810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24500" y="3746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Allure 报告系统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34925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18500" y="3810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07500" y="3746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快速开始与部署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07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52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841500" y="5461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测试执行指南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445000" y="5207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635500" y="552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524500" y="5461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故障排除与安全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5207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318500" y="552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07500" y="5461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项目背景：为什么需要自动化测试框架？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痛点与解决方案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🔴 当前痛点：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人工执行测试，耗时长且容易漏测，效率低下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回归测试场景多，难以保证核心功能的测试覆盖率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传统测试报告数据零散，缺乏可视化分析与历史数据追溯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测试环境配置繁琐，维护成本高，易出现环境不一致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2222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🟢 解决方案：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7x24h 自动化运行：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释放人力，显著提升测试效率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全方位覆盖：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支持API/CLI/UI等多种类型测试，保障质量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Allure + PGSQL：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提供可视化测试报告，支持历史数据查询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容器化：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实现环境一键部署与快速复制，一致性高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项目核心价值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826000"/>
            <a:ext cx="2603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9784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完全本地化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不依赖外部云服务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数据自主可控，更安全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492500" y="4826000"/>
            <a:ext cx="2603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5016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127500" y="49784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开箱即用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极简配置流程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仅需5分钟即可完成环境搭建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4826000"/>
            <a:ext cx="2603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5016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49784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四测合一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统一技术栈与框架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支持API/CLI/功能/UI测试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953500" y="4826000"/>
            <a:ext cx="2603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0" y="5016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588500" y="49784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CI/CD 无缝集成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快速接入流水线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实现代码提交即触发自动回归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设计目标与实施状态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65200" y="1397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完全本地化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048000" y="1397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所有组件本地部署，无外部云依赖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1511300"/>
            <a:ext cx="1397000" cy="406400"/>
          </a:xfrm>
          <a:prstGeom prst="roundRect">
            <a:avLst>
              <a:gd name="adj" fmla="val 1875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842000" y="15113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已实现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493000" y="1397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GitLab CI/CD 自托管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2225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65200" y="2222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现代化技术栈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048000" y="2222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pytest + GitLab CI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2336800"/>
            <a:ext cx="1397000" cy="406400"/>
          </a:xfrm>
          <a:prstGeom prst="roundRect">
            <a:avLst>
              <a:gd name="adj" fmla="val 1875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842000" y="23368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已实现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493000" y="2222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pytest 8.0+ + GitLab CI 16.0+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0480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65200" y="3048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四测试类型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048000" y="3048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CLI + API + 功能 + UI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842000" y="3162300"/>
            <a:ext cx="1397000" cy="406400"/>
          </a:xfrm>
          <a:prstGeom prst="roundRect">
            <a:avLst>
              <a:gd name="adj" fmla="val 1875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842000" y="31623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已实现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93000" y="3048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四大测试类型完整覆盖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38735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65200" y="3873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防火墙专用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048000" y="3873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 SonicOS API/CLI 优化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842000" y="3987800"/>
            <a:ext cx="1397000" cy="406400"/>
          </a:xfrm>
          <a:prstGeom prst="roundRect">
            <a:avLst>
              <a:gd name="adj" fmla="val 1875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5842000" y="39878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已实现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93000" y="3873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深度定制适配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6990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65200" y="4699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固定拓扑支持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048000" y="4699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支持固定网络拓扑测试场景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842000" y="4813300"/>
            <a:ext cx="1397000" cy="406400"/>
          </a:xfrm>
          <a:prstGeom prst="roundRect">
            <a:avLst>
              <a:gd name="adj" fmla="val 1875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5842000" y="48133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已实现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493000" y="4699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容器化拓扑管理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" y="51816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965200" y="51816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报告可视化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3048000" y="51816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HTML 可视化报告 + 历史趋势分析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842000" y="5295900"/>
            <a:ext cx="1397000" cy="406400"/>
          </a:xfrm>
          <a:prstGeom prst="roundRect">
            <a:avLst>
              <a:gd name="adj" fmla="val 1875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5842000" y="52959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已实现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493000" y="51816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Allure Docker Service 部署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965200" y="5842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CI/CD 集成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048000" y="5842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GitLab CI 自动化流水线构建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842000" y="5956300"/>
            <a:ext cx="1397000" cy="406400"/>
          </a:xfrm>
          <a:prstGeom prst="roundRect">
            <a:avLst>
              <a:gd name="adj" fmla="val 1875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5842000" y="59563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已实现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7493000" y="5842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构建、部署、测试7阶段完整流水线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技术选型：核心技术栈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397000"/>
          <a:ext cx="10668000" cy="2997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测试框架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pytest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8.0+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核心测试引擎，支持丰富插件生态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API测试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requests + pydantic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2.31+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REST API 接口请求与数据模型验证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CLI测试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paramiko + netmiko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3.3+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远程服务器 SSH 连接与命令执行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报告生成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Allure Report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2.24+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生成美观、可交互的自动化测试报告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CI平台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GitLab CI/CD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16.0+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代码提交触发自动化流水线与质量门禁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容器化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Docker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24.0+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提供轻量级、可移植的测试环境隔离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数据存储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PostgreSQL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15+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持久化存储历史测试结果与统计数据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572000"/>
            <a:ext cx="1651000" cy="177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0000" b="10000"/>
          <a:stretch>
            <a:fillRect/>
          </a:stretch>
        </p:blipFill>
        <p:spPr>
          <a:xfrm>
            <a:off x="952500" y="4762500"/>
            <a:ext cx="127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584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pytest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730500" y="4572000"/>
            <a:ext cx="1651000" cy="177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10000" b="10000"/>
          <a:stretch>
            <a:fillRect/>
          </a:stretch>
        </p:blipFill>
        <p:spPr>
          <a:xfrm>
            <a:off x="2921000" y="4762500"/>
            <a:ext cx="127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2730500" y="584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GitLab CI/CD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4572000"/>
            <a:ext cx="1651000" cy="177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l="14843" r="14843"/>
          <a:stretch>
            <a:fillRect/>
          </a:stretch>
        </p:blipFill>
        <p:spPr>
          <a:xfrm>
            <a:off x="4889500" y="4762500"/>
            <a:ext cx="127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4699000" y="584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Docker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67500" y="4572000"/>
            <a:ext cx="1651000" cy="177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 l="14843" r="14843"/>
          <a:stretch>
            <a:fillRect/>
          </a:stretch>
        </p:blipFill>
        <p:spPr>
          <a:xfrm>
            <a:off x="6858000" y="4762500"/>
            <a:ext cx="127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667500" y="584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36000" y="4572000"/>
            <a:ext cx="1651000" cy="177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 t="10000" b="10000"/>
          <a:stretch>
            <a:fillRect/>
          </a:stretch>
        </p:blipFill>
        <p:spPr>
          <a:xfrm>
            <a:off x="8826500" y="4762500"/>
            <a:ext cx="127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636000" y="584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Allure Report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自动化测试框架架构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032000" cy="2921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400" y="2032000"/>
            <a:ext cx="711200" cy="711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921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触发层</a:t>
            </a:r>
            <a:endParaRPr lang="en-US" sz="1100"/>
          </a:p>
          <a:p>
            <a:pPr marL="0" indent="0" algn="ctr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Git Push / Merge Req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定时任务触发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手动一键触发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7500" y="285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238500" y="1651000"/>
            <a:ext cx="2032000" cy="2921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238500" y="1651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8900" y="20320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365500" y="2921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CI平台层</a:t>
            </a:r>
            <a:endParaRPr lang="en-US" sz="1100"/>
          </a:p>
          <a:p>
            <a:pPr marL="0" indent="0" algn="ctr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GitLab CI 核心引擎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7阶段自动化流水线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环境隔离与并行构建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285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715000" y="1651000"/>
            <a:ext cx="2032000" cy="2921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715000" y="1651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5400" y="2032000"/>
            <a:ext cx="711200" cy="711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842000" y="2921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测试执行层</a:t>
            </a:r>
            <a:endParaRPr lang="en-US" sz="1100"/>
          </a:p>
          <a:p>
            <a:pPr marL="0" indent="0" algn="ctr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pytest 测试框架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API / CLI / UI 全栈覆盖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关键字驱动与模块化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0500" y="285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191500" y="1651000"/>
            <a:ext cx="2667000" cy="2921000"/>
          </a:xfrm>
          <a:prstGeom prst="roundRect">
            <a:avLst>
              <a:gd name="adj" fmla="val 476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91500" y="1651000"/>
            <a:ext cx="2667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18600" y="2032000"/>
            <a:ext cx="711200" cy="711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255000" y="2921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结果处理层</a:t>
            </a:r>
            <a:endParaRPr lang="en-US" sz="1100"/>
          </a:p>
          <a:p>
            <a:pPr marL="0" indent="0" algn="ctr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Allure 报告 / JUnit 标准格式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代码覆盖率统计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质量门禁与自动阻断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1F2937">
              <a:alpha val="95000"/>
            </a:srgbClr>
          </a:solidFill>
          <a:ln w="25400" cap="flat" cmpd="sng">
            <a:solidFill>
              <a:srgbClr val="22C55E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000" y="5207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2159000" y="527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可视化层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实时看板展示 · 飞书/邮件自动通知 · 失败截图回显</a:t>
            </a:r>
          </a:p>
        </p:txBody>
      </p:sp>
      <p:sp>
        <p:nvSpPr>
          <p:cNvPr id="26" name="AutoShape 26"/>
          <p:cNvSpPr/>
          <p:nvPr/>
        </p:nvSpPr>
        <p:spPr>
          <a:xfrm>
            <a:off x="5461000" y="5270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🔄 数据闭环与持久化存储</a:t>
            </a:r>
            <a:endParaRPr lang="en-US" sz="1100"/>
          </a:p>
          <a:p>
            <a:pPr marL="0"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结果处理层 ➔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 数据库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➔ 可视化层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用于长期的测试趋势分析、历史数据查询与版本对比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核心组件关系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30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pytest (核心引擎)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pytest-allure (Allure 报告生成插件) | • pytest-cov (代码覆盖率统计)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pytest-xdist (多CPU并行测试执行) | • pytest-html (HTML 格式报告)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68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930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防火墙连接层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paramiko (底层 SSH 连接库) • netmiko (网络设备多厂商 CLI 驱动)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requests (HTTP/RESTful API 调用库)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08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470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测试数据层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20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fixtures (动态测试夹具与依赖注入) • conftest.py (全局共享配置)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topology/ (网络拓扑与设备配置目录) • test_data/ (测试用例参数化数据目录)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508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4470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报告系统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20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Allure (多维度可视化测试报告) • PostgreSQL (历史结果持久化存储)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Flask (轻量级 Web 服务与报告门户)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测试类型详解：四大测试类型全覆盖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2159000"/>
          </a:xfrm>
          <a:prstGeom prst="roundRect">
            <a:avLst>
              <a:gd name="adj" fmla="val 470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905000"/>
            <a:ext cx="2349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API 测试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requests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目录位置：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tests/api/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REST API 接口逻辑与响应验证</a:t>
            </a:r>
          </a:p>
        </p:txBody>
      </p:sp>
      <p:sp>
        <p:nvSpPr>
          <p:cNvPr id="7" name="AutoShape 7"/>
          <p:cNvSpPr/>
          <p:nvPr/>
        </p:nvSpPr>
        <p:spPr>
          <a:xfrm>
            <a:off x="3492500" y="1651000"/>
            <a:ext cx="2603500" cy="2159000"/>
          </a:xfrm>
          <a:prstGeom prst="roundRect">
            <a:avLst>
              <a:gd name="adj" fmla="val 470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619500" y="1905000"/>
            <a:ext cx="2349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CLI 测试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paramiko / netmiko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目录位置：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tests/cli/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远程设备 SSH 命令行交互与校验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2603500" cy="2159000"/>
          </a:xfrm>
          <a:prstGeom prst="roundRect">
            <a:avLst>
              <a:gd name="adj" fmla="val 470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2349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功能测试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集成测试框架 / 业务逻辑层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目录位置：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tests/functional/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端到端(E2E)业务流程与逻辑验证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953500" y="1651000"/>
            <a:ext cx="2603500" cy="2159000"/>
          </a:xfrm>
          <a:prstGeom prst="roundRect">
            <a:avLst>
              <a:gd name="adj" fmla="val 470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953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080500" y="1905000"/>
            <a:ext cx="2349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UI 测试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Playwright (多浏览器支持)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目录位置：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tests/ui/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Web 界面交互与视觉一致性检查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10795000" cy="2159000"/>
          </a:xfrm>
          <a:prstGeom prst="roundRect">
            <a:avLst>
              <a:gd name="adj" fmla="val 4705"/>
            </a:avLst>
          </a:prstGeom>
          <a:solidFill>
            <a:srgbClr val="181D26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10795000" cy="381000"/>
          </a:xfrm>
          <a:prstGeom prst="roundRect">
            <a:avLst>
              <a:gd name="adj" fmla="val 0"/>
            </a:avLst>
          </a:prstGeom>
          <a:solidFill>
            <a:srgbClr val="2931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254500"/>
            <a:ext cx="228600" cy="228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70000" y="42291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终端：测试执行命令示例 (pytest)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46990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# 运行所有测试套件：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pytest tests/ -v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# 单独运行特定模块：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pytest tests/api/ -v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# 仅运行 API 接口测试</a:t>
            </a: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pytest tests/cli/ -v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# 仅运行 CLI 命令行测试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pytest tests/functional/ -v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# 仅运行 端到端功能测试</a:t>
            </a: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pytest tests/ui/ -v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# 仅运行 UI 界面自动化测试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8FAF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CI/CD 流水线：7阶段流水线设计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206500" cy="952500"/>
          </a:xfrm>
          <a:prstGeom prst="roundRect">
            <a:avLst>
              <a:gd name="adj" fmla="val 13333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setup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159000" y="1524000"/>
            <a:ext cx="1206500" cy="952500"/>
          </a:xfrm>
          <a:prstGeom prst="roundRect">
            <a:avLst>
              <a:gd name="adj" fmla="val 13333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topology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1524000"/>
            <a:ext cx="1206500" cy="952500"/>
          </a:xfrm>
          <a:prstGeom prst="roundRect">
            <a:avLst>
              <a:gd name="adj" fmla="val 13333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deploy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53000" y="1524000"/>
            <a:ext cx="1206500" cy="952500"/>
          </a:xfrm>
          <a:prstGeom prst="roundRect">
            <a:avLst>
              <a:gd name="adj" fmla="val 13333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test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1206500" cy="952500"/>
          </a:xfrm>
          <a:prstGeom prst="roundRect">
            <a:avLst>
              <a:gd name="adj" fmla="val 13333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report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47000" y="1524000"/>
            <a:ext cx="1206500" cy="952500"/>
          </a:xfrm>
          <a:prstGeom prst="roundRect">
            <a:avLst>
              <a:gd name="adj" fmla="val 13333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sendmail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0" y="1524000"/>
            <a:ext cx="1206500" cy="952500"/>
          </a:xfrm>
          <a:prstGeom prst="roundRect">
            <a:avLst>
              <a:gd name="adj" fmla="val 13333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cleanup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921000"/>
            <a:ext cx="33655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111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0734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准备阶段 (Setup &amp; Topology)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setup：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验证远程服务器SSH连接可达性，确保网络通畅。</a:t>
            </a:r>
          </a:p>
          <a:p>
            <a:pPr marL="0" indent="0" algn="l">
              <a:lnSpc>
                <a:spcPct val="108333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topology：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利用Docker容器技术快速建立并初始化标准化的测试网络拓扑。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406900" y="2921000"/>
            <a:ext cx="33782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3111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80000" y="30734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执行阶段 (Deploy &amp; Test)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deploy：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从代码仓库拉取最新代码并部署至远程测试环境。</a:t>
            </a:r>
          </a:p>
          <a:p>
            <a:pPr marL="0" indent="0" algn="l">
              <a:lnSpc>
                <a:spcPct val="108333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test：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触发自动化测试任务，远程执行 pytest 用例集。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64500" y="2921000"/>
            <a:ext cx="33655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3111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30734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收尾阶段 (Report &amp; Cleanup)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Report &amp; Sendmail：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生成Allure可视化报告并自动邮件通知结果。</a:t>
            </a:r>
          </a:p>
          <a:p>
            <a:pPr marL="0" indent="0" algn="l">
              <a:lnSpc>
                <a:spcPct val="108333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cleanup：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清理测试环境中的临时文件与容器，保持环境清洁。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rcRect t="13207" b="13207"/>
          <a:stretch>
            <a:fillRect/>
          </a:stretch>
        </p:blipFill>
        <p:spPr>
          <a:xfrm>
            <a:off x="8064500" y="4889500"/>
            <a:ext cx="33655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762000" y="4889500"/>
            <a:ext cx="7010400" cy="1651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080000"/>
            <a:ext cx="647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流水线核心价值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从代码提交到结果反馈的全链路自动化闭环，显著缩短了验证周期。通过标准化的环境准备与清理，规避了“环境不一致”引发的问题，确保每次测试结果真实可靠。邮件与可视化报告让团队能即时掌握质量状况，加速迭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CI/CD 配置示例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1828800"/>
            <a:ext cx="10058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核心配置：.gitlab-ci.yml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540000"/>
            <a:ext cx="10058400" cy="3505200"/>
          </a:xfrm>
          <a:prstGeom prst="roundRect">
            <a:avLst>
              <a:gd name="adj" fmla="val 2898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2743200"/>
            <a:ext cx="9652000" cy="309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AB308"/>
                </a:solidFill>
                <a:latin typeface="Roboto Mono"/>
                <a:ea typeface="Roboto Mono"/>
                <a:cs typeface="Roboto Mono"/>
                <a:sym typeface="Roboto Mono"/>
              </a:rPr>
              <a:t>stages:</a:t>
            </a: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- setup   - topology   - deploy   - test   - report   - sendmail   - cleanup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AB308"/>
                </a:solidFill>
                <a:latin typeface="Roboto Mono"/>
                <a:ea typeface="Roboto Mono"/>
                <a:cs typeface="Roboto Mono"/>
                <a:sym typeface="Roboto Mono"/>
              </a:rPr>
              <a:t>variables:</a:t>
            </a: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REMOTE_HOST:</a:t>
            </a:r>
            <a:r>
              <a:rPr lang="en-US" sz="13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"10.103.50.112"</a:t>
            </a: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REMOTE_USER:</a:t>
            </a:r>
            <a:r>
              <a:rPr lang="en-US" sz="13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"root"</a:t>
            </a: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PYTEST_ARGS:</a:t>
            </a:r>
            <a:r>
              <a:rPr lang="en-US" sz="13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"-v --html=reports/html/test_report.html --alluredir=reports/allure --cov=src"</a:t>
            </a:r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test:</a:t>
            </a: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stage:</a:t>
            </a:r>
            <a:r>
              <a:rPr lang="en-US" sz="1300" b="0" i="0" u="none" strike="noStrike">
                <a:solidFill>
                  <a:srgbClr val="F87171"/>
                </a:solidFill>
                <a:latin typeface="Roboto Mono"/>
                <a:ea typeface="Roboto Mono"/>
                <a:cs typeface="Roboto Mono"/>
                <a:sym typeface="Roboto Mono"/>
              </a:rPr>
              <a:t>test</a:t>
            </a: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script: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- sshpass -p "$PASSWORD" ssh "$USER@$HOST" " \&amp;#10; cd /opt/test_framework \&amp;#10; source .venv/bin/activate \&amp;#10; pytest tests/ \$PYTEST_ARGS \&amp;#10; 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Allure 报告系统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服务架构与访问方式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2603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📋 服务架构流程：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GitLab CI Pipeline (收集结果) → 数据目录 /ci/auto-test-results/projects ↔ Allure Docker Service (端口 5050/58080)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4064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🔗 多维访问途径：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6990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Web UI 访问：</a:t>
            </a:r>
            <a:r>
              <a:rPr lang="en-US" sz="13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http://服务器IP:58080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静态 HTML 报告：</a:t>
            </a:r>
            <a:r>
              <a:rPr lang="en-US" sz="13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reports/html/test_report.html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代码覆盖率报告：</a:t>
            </a:r>
            <a:r>
              <a:rPr lang="en-US" sz="13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reports/coverage/index.html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启动服务 (Docker Commands)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286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# 启动后端 API 服务 (映射数据卷与端口 5050)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-d --name allure-api -p 5050:5050 -v /ci/auto-test-results/projects:/app/projects frankescobar/allure-docker-service</a:t>
            </a:r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# 启动前端 UI 服务 (关联后端地址, 端口 58080)</a:t>
            </a:r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-d --name allure-ui -p 58080:5252 -e ALLURE_DOCKER_PUBLIC_API_URL=http://服务器IP:5050 frankescobar/allure-docker-service-ui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445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 l="21975" r="21975"/>
          <a:stretch>
            <a:fillRect/>
          </a:stretch>
        </p:blipFill>
        <p:spPr>
          <a:xfrm>
            <a:off x="6350000" y="4572000"/>
            <a:ext cx="2032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509000" y="4699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✨ 可视化报告预览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直观展示测试用例执行趋势、通过率、失败详情与耗时分布，支持多维度筛选与日志查看。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项目目录结构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22C55E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57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test_framework/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└── src/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# 源代码核心目录</a:t>
            </a:r>
          </a:p>
          <a:p>
            <a:pPr marL="19050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core/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# 通用核心框架逻辑</a:t>
            </a:r>
          </a:p>
          <a:p>
            <a:pPr marL="19050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└── firewall/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# 防火墙业务专用模块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22C55E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95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57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tests/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# 自动化测试集合</a:t>
            </a:r>
            <a:endParaRPr lang="en-US" sz="1100"/>
          </a:p>
          <a:p>
            <a:pPr marL="19050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api/</a:t>
            </a: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 接口测试</a:t>
            </a:r>
          </a:p>
          <a:p>
            <a:pPr marL="19050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cli/</a:t>
            </a: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命令行界面交互测试</a:t>
            </a:r>
          </a:p>
          <a:p>
            <a:pPr marL="19050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functional/</a:t>
            </a: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核心功能逻辑测试</a:t>
            </a:r>
          </a:p>
          <a:p>
            <a:pPr marL="19050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└── ui/</a:t>
            </a: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图形化界面端到端测试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22C55E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95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2057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支撑与配置层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topology/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# 网络拓扑与资源配置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reports/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# 测试报告与日志输出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docker/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# 环境容器化部署配置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└── scripts/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# 环境准备与辅助脚本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快速开始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30400"/>
            <a:ext cx="15875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操作系统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Ubuntu 24.04 LTS</a:t>
            </a:r>
          </a:p>
        </p:txBody>
      </p:sp>
      <p:sp>
        <p:nvSpPr>
          <p:cNvPr id="8" name="AutoShape 8"/>
          <p:cNvSpPr/>
          <p:nvPr/>
        </p:nvSpPr>
        <p:spPr>
          <a:xfrm>
            <a:off x="3556000" y="1778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1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254500" y="1930400"/>
            <a:ext cx="15875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3.10+ (推荐 3.11)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159500" y="1778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4600" y="2032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1930400"/>
            <a:ext cx="15875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4GB+ (推荐 8GB)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763000" y="1778000"/>
            <a:ext cx="24130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8100" y="2032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461500" y="1930400"/>
            <a:ext cx="15875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存储空间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10GB+ 可用空间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3683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2500" y="3873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⚡ 一键部署 (Quick Setup)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445000"/>
            <a:ext cx="4826000" cy="1651000"/>
          </a:xfrm>
          <a:prstGeom prst="roundRect">
            <a:avLst>
              <a:gd name="adj" fmla="val 6153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79500" y="4572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# 1. 克隆项目代码库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git clone &lt;repository-url&gt; &amp;&amp; cd test_framework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# 2. 赋予执行权限并运行脚本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chmod +x QUICK_SETUP.sh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./QUICK_SETUP.sh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3683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13500" y="3873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环境配置 (.env 文件)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445000"/>
            <a:ext cx="4826000" cy="1651000"/>
          </a:xfrm>
          <a:prstGeom prst="roundRect">
            <a:avLst>
              <a:gd name="adj" fmla="val 6153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40500" y="4572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# 防火墙基础信息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FIREWALL_HOST="10.8.105.173"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FIREWALL_USERNAME="admin"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FIREWALL_PASSWORD="your_password_here"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# 端口与环境标识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FIREWALL_API_PORT=443 FIREWALL_SSH_PORT=22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ENV="test"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测试执行指南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76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HTML 独立报告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90600" y="2413000"/>
            <a:ext cx="2082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生成自包含的HTML报告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pytest tests/ \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--html=report.html \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--self-contained-html</a:t>
            </a:r>
          </a:p>
        </p:txBody>
      </p:sp>
      <p:sp>
        <p:nvSpPr>
          <p:cNvPr id="9" name="AutoShape 9"/>
          <p:cNvSpPr/>
          <p:nvPr/>
        </p:nvSpPr>
        <p:spPr>
          <a:xfrm>
            <a:off x="3556000" y="1524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714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91000" y="1676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Allure 可视化报告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2286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784600" y="2413000"/>
            <a:ext cx="2082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生成结果并启动服务查看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pytest tests/ \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--alluredir=reports/allure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allure serve reports/allure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1714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1676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JUnit 兼容报告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286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578600" y="2413000"/>
            <a:ext cx="2082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生成XML格式的结果文件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pytest tests/ \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--junitxml=reports/junit/results.xml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适用于Jenkins等CI工具集成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017000" y="1524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7500" y="171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652000" y="1676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代码覆盖率报告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0" y="2286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245600" y="2413000"/>
            <a:ext cx="2082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统计src目录代码覆盖情况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pytest tests/ \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--cov=src \</a:t>
            </a: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--cov-report=html:cov_html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62000" y="4191000"/>
            <a:ext cx="10795000" cy="2159000"/>
          </a:xfrm>
          <a:prstGeom prst="roundRect">
            <a:avLst>
              <a:gd name="adj" fmla="val 7058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587500" y="441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远程批量执行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5207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通过SSH通道连接到远程服务器，自动化激活虚拟环境并执行测试任务，将结果生成在远端服务器或回传。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937000" y="4445000"/>
            <a:ext cx="7366000" cy="1651000"/>
          </a:xfrm>
          <a:prstGeom prst="roundRect">
            <a:avLst>
              <a:gd name="adj" fmla="val 6153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4127500" y="4635500"/>
            <a:ext cx="698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sshpass -p "YOUR_PASSWORD" ssh root@10.103.50.112</a:t>
            </a:r>
            <a:r>
              <a:rPr lang="en-US" sz="12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-US" sz="12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cd /opt/test_framework &amp;&amp; source .venv/bin/activate &amp;&amp; pytest tests/ -v --html=reports/remote_report.html --alluredir=reports/allure</a:t>
            </a:r>
            <a:r>
              <a:rPr lang="en-US" sz="12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endParaRPr lang="en-US" sz="1100"/>
          </a:p>
          <a:p>
            <a:pPr marL="0" indent="0" algn="r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注：实际使用中建议使用密钥认证，避免明文密码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故障排除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76400"/>
            <a:ext cx="266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SSH 连接失败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症状:</a:t>
            </a:r>
            <a:r>
              <a:rPr lang="en-US" sz="1200" b="0" i="0" u="none" strike="noStrike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sshpass: command not found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解决:</a:t>
            </a:r>
            <a:r>
              <a:rPr lang="en-US" sz="12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sudo apt install sshpass</a:t>
            </a:r>
          </a:p>
        </p:txBody>
      </p:sp>
      <p:sp>
        <p:nvSpPr>
          <p:cNvPr id="7" name="AutoShape 7"/>
          <p:cNvSpPr/>
          <p:nvPr/>
        </p:nvSpPr>
        <p:spPr>
          <a:xfrm>
            <a:off x="4381500" y="1524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71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16500" y="1676400"/>
            <a:ext cx="266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Playwright 未安装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症状:</a:t>
            </a:r>
            <a:r>
              <a:rPr lang="en-US" sz="1200" b="0" i="0" u="none" strike="noStrike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Executable doesn't exist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解决:</a:t>
            </a:r>
            <a:r>
              <a:rPr lang="en-US" sz="12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playwright install chromium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1524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71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636000" y="1676400"/>
            <a:ext cx="266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Runner 未执行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症状:</a:t>
            </a:r>
            <a:r>
              <a:rPr lang="en-US" sz="1200" b="0" i="0" u="none" strike="noStrike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Pipeline pending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解决: 检查 GitLab Runner 标签匹配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683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36195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CI 变量未生效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症状: 脚本执行报错</a:t>
            </a:r>
            <a:r>
              <a:rPr lang="en-US" sz="1200" b="0" i="0" u="none" strike="noStrike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unbound variable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解决: 检查项目 CI/CD 设置中的变量配置及权限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3429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368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36195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SSL 证书验证错误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症状: 连接外部服务提示“认证失败”或证书不可信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解决: 禁用 SSL 验证(不推荐) 或 正确挂载/添加信任证书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10668000" cy="1460500"/>
          </a:xfrm>
          <a:prstGeom prst="roundRect">
            <a:avLst>
              <a:gd name="adj" fmla="val 10434"/>
            </a:avLst>
          </a:prstGeom>
          <a:solidFill>
            <a:srgbClr val="1F2937">
              <a:alpha val="95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334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53086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常用调试</a:t>
            </a:r>
            <a:b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命令技巧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302000" y="5270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# 详细输出模式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pytest tests/ -v -s</a:t>
            </a:r>
          </a:p>
        </p:txBody>
      </p:sp>
      <p:sp>
        <p:nvSpPr>
          <p:cNvPr id="23" name="AutoShape 23"/>
          <p:cNvSpPr/>
          <p:nvPr/>
        </p:nvSpPr>
        <p:spPr>
          <a:xfrm>
            <a:off x="5461000" y="5270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# 仅重跑失败用例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pytest tests/ --lf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620000" y="5270500"/>
            <a:ext cx="165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# 自动并行执行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pytest -n auto</a:t>
            </a:r>
          </a:p>
        </p:txBody>
      </p:sp>
      <p:sp>
        <p:nvSpPr>
          <p:cNvPr id="25" name="AutoShape 25"/>
          <p:cNvSpPr/>
          <p:nvPr/>
        </p:nvSpPr>
        <p:spPr>
          <a:xfrm>
            <a:off x="9398000" y="5270500"/>
            <a:ext cx="177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# 查看服务实时日志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docker logs -f [svc]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安全注意事项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密码保护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92200" y="2667000"/>
            <a:ext cx="2844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严禁明文存储，建议使用 GitLab CI/CD 变量功能来安全存储和调用各类敏感凭证。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190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705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网络安全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11700" y="2667000"/>
            <a:ext cx="2844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配置防火墙规则，确保 Runner 节点仅开放必要的 22 端口以访问远程服务器，减少暴露面。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65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1200" y="1905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权限控制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31200" y="2667000"/>
            <a:ext cx="2844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严格遵循最小权限原则，限制 Runner 服务器对 GitLab 实例及其他内部服务的访问范围。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4445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032000" y="43815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日志清理与脱敏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43000" y="520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在流水线配置中将敏感变量标记为“Masked”以屏蔽显示，并定期清理历史构建日志，防止敏感数据泄露。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06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230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4450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493000" y="43815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05. 定期组件更新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04000" y="520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及时更新 GitLab 应用、Runner 执行器及相关依赖库，修复已知漏洞，防范潜在的安全风险。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高级配置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669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16100"/>
            <a:ext cx="228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并行执行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921000" cy="3175000"/>
          </a:xfrm>
          <a:prstGeom prst="roundRect">
            <a:avLst>
              <a:gd name="adj" fmla="val 3478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048000"/>
            <a:ext cx="2667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安装并行插件</a:t>
            </a:r>
            <a:b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pip install pytest-xdist</a:t>
            </a:r>
            <a:b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自动检测CPU核心数并行执行</a:t>
            </a:r>
            <a:b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pytest tests/ -n auto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8669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1816100"/>
            <a:ext cx="228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定时清理报告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2794000"/>
            <a:ext cx="2921000" cy="3175000"/>
          </a:xfrm>
          <a:prstGeom prst="roundRect">
            <a:avLst>
              <a:gd name="adj" fmla="val 3478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762500" y="3048000"/>
            <a:ext cx="2667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自动清理超过7天的历史报告</a:t>
            </a:r>
            <a:b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避免存储资源耗尽</a:t>
            </a:r>
            <a:b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find reports/ \\\n -type d \\\n -mtime +7 \\\n -exec rm -rf {} \\;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8669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1816100"/>
            <a:ext cx="228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自定义触发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2794000"/>
            <a:ext cx="2921000" cy="3175000"/>
          </a:xfrm>
          <a:prstGeom prst="roundRect">
            <a:avLst>
              <a:gd name="adj" fmla="val 3478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445500" y="3048000"/>
            <a:ext cx="2667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GitLab CI 配置示例</a:t>
            </a:r>
            <a:b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workflow:</a:t>
            </a:r>
            <a:b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rules:</a:t>
            </a:r>
            <a:b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 if: '$CI_PIPELINE_SOURCE == "schedule"'</a:t>
            </a:r>
            <a:b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 if: '$CI_PIPELINE_SOURCE == "push"'</a:t>
            </a:r>
            <a:b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 if: '$CI_PIPELINE_SOURCE == "merge_request_event"'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项目协同工作流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1841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778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代码提交 (GitLab仓库)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开发者向 ci-project 仓库提交代码或推送分支，触发自动化流水线，开启整个协同流程的第一步。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1841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1778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GitLab CI/CD 自动构建与部署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自动拉取最新代码，完成环境依赖安装与项目构建，并将新版本自动部署至指定的测试环境中。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520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0767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3937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自动化测试框架执行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远程服务器 (10.103.50.112) 调用 test_framework 框架，自动批量执行所有相关的功能与接口测试用例。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3683000"/>
            <a:ext cx="520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3683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3200" y="40767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66000" y="3937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测试报告结果收集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测试执行完毕后，自动抓取运行日志，汇总所有用例的通过、失败、跳过状态及详细的错误堆栈信息。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5664200"/>
            <a:ext cx="736600" cy="736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2159000" y="5588000"/>
            <a:ext cx="901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05. Allure 可视化报告展示 (端口 58080) — 流程闭环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将原始数据转化为直观的图表与详情页，支持在线查看、筛选失败用例与趋势分析，便于快速定位问题，实现开发到测试的自动化闭环。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222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完全本地化部署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无外部依赖，保障企业数据安全与私密性</a:t>
            </a:r>
          </a:p>
        </p:txBody>
      </p:sp>
      <p:sp>
        <p:nvSpPr>
          <p:cNvPr id="8" name="AutoShape 8"/>
          <p:cNvSpPr/>
          <p:nvPr/>
        </p:nvSpPr>
        <p:spPr>
          <a:xfrm>
            <a:off x="4381500" y="20320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413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222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四大测试类型全覆盖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API、CLI、功能及 UI 测试，不留死角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20320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413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26500" y="2222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7阶段 CI/CD 流水线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构建标准化、自动化的测试与交付流程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191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4000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Allure 可视化报告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提供直观、美观的测试结果展示与分析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381500" y="38100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4191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207000" y="4000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容器化部署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实现环境快速隔离与一键式便捷部署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001000" y="38100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4191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26500" y="40005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 数据存储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高效存储海量测试数据，支持历史追溯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5245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778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5689600"/>
            <a:ext cx="2032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效率提升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自动化测试减少人工干预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10000" y="5778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318000" y="5689600"/>
            <a:ext cx="2032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质量保障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全面测试覆盖提高软件质量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5778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85000" y="5689600"/>
            <a:ext cx="2032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持续集成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代码提交即触发自动化测试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44000" y="5778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652000" y="5689600"/>
            <a:ext cx="1651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可追溯性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完整的测试历史记录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展望与下一步计划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1879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 引入并行测试与分布式执行，大幅缩短执行时间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2768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智能测试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 利用 AI 辅助生成测试用例，提升覆盖率与效率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683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6830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51000" y="3657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扩展支持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 适配更多防火墙与网络设备型号，扩大适用范围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5720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651000" y="4546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移动端测试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 扩展移动端 UI 自动化测试能力，覆盖更多场景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461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54610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5435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 基于历史数据实现智能缺陷预测与风险分析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 t="6896" b="6896"/>
          <a:stretch>
            <a:fillRect/>
          </a:stretch>
        </p:blipFill>
        <p:spPr>
          <a:xfrm>
            <a:off x="6350000" y="1651000"/>
            <a:ext cx="5080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6350000" y="4826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22C55E">
              <a:alpha val="15000"/>
            </a:srgbClr>
          </a:solidFill>
          <a:ln w="12700" cap="flat" cmpd="sng">
            <a:solidFill>
              <a:srgbClr val="22C55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0" y="5016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感谢各位领导和同事的支持！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欢迎提问与交流！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附录 - 资源链接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286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20955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项目仓库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http://10.8.106.150/root/test_framework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286000"/>
            <a:ext cx="812800" cy="812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0" y="20955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CI 项目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http://10.8.106.150/root/ci-project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699000"/>
            <a:ext cx="812800" cy="812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159000" y="45085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Allure 报告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http://10.8.106.150:58080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699000"/>
            <a:ext cx="812800" cy="812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0" y="45085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实施文档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Automation_Framework_Finally.md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453f203-a7fe-4d32-968a-fe687818e308}" enabled="1" method="Standard" siteId="{84fe6f40-1cbc-4730-8328-8018b2af88b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2626</Words>
  <Application>Microsoft Office PowerPoint</Application>
  <PresentationFormat>宽屏</PresentationFormat>
  <Paragraphs>424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Menlo</vt:lpstr>
      <vt:lpstr>Noto Sans SC</vt:lpstr>
      <vt:lpstr>Arial</vt:lpstr>
      <vt:lpstr>Roboto Mono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Neil (Lei) Zhang</cp:lastModifiedBy>
  <cp:revision>2</cp:revision>
  <dcterms:modified xsi:type="dcterms:W3CDTF">2026-05-25T08:44:52Z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{"Label":"1","ContentProducer":"001191110102MACQD9K64010000","ProduceID":"7643746814798334928","ReservedCode1":"","ContentPropagator":"","PropagateID":"","ReservedCode2":""}</vt:lpwstr>
  </property>
</Properties>
</file>